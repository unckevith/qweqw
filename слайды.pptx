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6" autoAdjust="0"/>
    <p:restoredTop sz="94660"/>
  </p:normalViewPr>
  <p:slideViewPr>
    <p:cSldViewPr snapToGrid="0">
      <p:cViewPr varScale="1">
        <p:scale>
          <a:sx n="87" d="100"/>
          <a:sy n="87" d="100"/>
        </p:scale>
        <p:origin x="2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4A1B2D-90DF-4B80-968E-33139D3749CC}" type="doc">
      <dgm:prSet loTypeId="urn:microsoft.com/office/officeart/2005/8/layout/pList1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8CF2011-ED79-4F44-95B6-EF547B2A6C7D}">
      <dgm:prSet phldrT="[Текст]" phldr="1"/>
      <dgm:spPr/>
      <dgm:t>
        <a:bodyPr/>
        <a:lstStyle/>
        <a:p>
          <a:endParaRPr lang="ru-RU" dirty="0"/>
        </a:p>
      </dgm:t>
    </dgm:pt>
    <dgm:pt modelId="{A1653D3F-BACA-44A8-A6F6-A4B7F2157D23}" type="parTrans" cxnId="{D599386D-DF77-4119-813D-01343A6ACA64}">
      <dgm:prSet/>
      <dgm:spPr/>
      <dgm:t>
        <a:bodyPr/>
        <a:lstStyle/>
        <a:p>
          <a:endParaRPr lang="ru-RU"/>
        </a:p>
      </dgm:t>
    </dgm:pt>
    <dgm:pt modelId="{8D0E27D0-BC9B-4800-86FF-C837E2DF65D4}" type="sibTrans" cxnId="{D599386D-DF77-4119-813D-01343A6ACA64}">
      <dgm:prSet/>
      <dgm:spPr/>
      <dgm:t>
        <a:bodyPr/>
        <a:lstStyle/>
        <a:p>
          <a:endParaRPr lang="ru-RU"/>
        </a:p>
      </dgm:t>
    </dgm:pt>
    <dgm:pt modelId="{388F1F59-6AC7-49C3-BADF-9C653B332F0D}">
      <dgm:prSet phldrT="[Текст]" phldr="1"/>
      <dgm:spPr/>
      <dgm:t>
        <a:bodyPr/>
        <a:lstStyle/>
        <a:p>
          <a:endParaRPr lang="ru-RU"/>
        </a:p>
      </dgm:t>
    </dgm:pt>
    <dgm:pt modelId="{6D429099-B9BF-4BD0-8CF1-94F86E52F7F1}" type="parTrans" cxnId="{75B27019-BCD8-411C-9EF6-28A5126DBC14}">
      <dgm:prSet/>
      <dgm:spPr/>
      <dgm:t>
        <a:bodyPr/>
        <a:lstStyle/>
        <a:p>
          <a:endParaRPr lang="ru-RU"/>
        </a:p>
      </dgm:t>
    </dgm:pt>
    <dgm:pt modelId="{7DC340E5-5F55-4CAD-810D-4298A22E054B}" type="sibTrans" cxnId="{75B27019-BCD8-411C-9EF6-28A5126DBC14}">
      <dgm:prSet/>
      <dgm:spPr/>
      <dgm:t>
        <a:bodyPr/>
        <a:lstStyle/>
        <a:p>
          <a:endParaRPr lang="ru-RU"/>
        </a:p>
      </dgm:t>
    </dgm:pt>
    <dgm:pt modelId="{3D770016-A955-439F-8767-257C7FB7118D}">
      <dgm:prSet phldrT="[Текст]" phldr="1"/>
      <dgm:spPr/>
      <dgm:t>
        <a:bodyPr/>
        <a:lstStyle/>
        <a:p>
          <a:endParaRPr lang="ru-RU" dirty="0"/>
        </a:p>
      </dgm:t>
    </dgm:pt>
    <dgm:pt modelId="{9521ADF0-0E5A-4A32-9006-EE69CC7884A5}" type="parTrans" cxnId="{C091D978-C044-4888-9B65-1007B4FB7E69}">
      <dgm:prSet/>
      <dgm:spPr/>
      <dgm:t>
        <a:bodyPr/>
        <a:lstStyle/>
        <a:p>
          <a:endParaRPr lang="ru-RU"/>
        </a:p>
      </dgm:t>
    </dgm:pt>
    <dgm:pt modelId="{86A4D323-8050-4862-88EE-B07AE33C0FF8}" type="sibTrans" cxnId="{C091D978-C044-4888-9B65-1007B4FB7E69}">
      <dgm:prSet/>
      <dgm:spPr/>
      <dgm:t>
        <a:bodyPr/>
        <a:lstStyle/>
        <a:p>
          <a:endParaRPr lang="ru-RU"/>
        </a:p>
      </dgm:t>
    </dgm:pt>
    <dgm:pt modelId="{8A7E8BAE-5F5C-4043-A436-E64117BDFCFB}">
      <dgm:prSet phldrT="[Текст]" phldr="1"/>
      <dgm:spPr/>
      <dgm:t>
        <a:bodyPr/>
        <a:lstStyle/>
        <a:p>
          <a:endParaRPr lang="ru-RU"/>
        </a:p>
      </dgm:t>
    </dgm:pt>
    <dgm:pt modelId="{49D98387-76F1-412A-A451-6ED331B4103C}" type="parTrans" cxnId="{4760D8C6-30AC-4F67-9D20-59C9338E6FB9}">
      <dgm:prSet/>
      <dgm:spPr/>
      <dgm:t>
        <a:bodyPr/>
        <a:lstStyle/>
        <a:p>
          <a:endParaRPr lang="ru-RU"/>
        </a:p>
      </dgm:t>
    </dgm:pt>
    <dgm:pt modelId="{30C909DC-215C-4C49-AFFF-DBBE1F7AC0E9}" type="sibTrans" cxnId="{4760D8C6-30AC-4F67-9D20-59C9338E6FB9}">
      <dgm:prSet/>
      <dgm:spPr/>
      <dgm:t>
        <a:bodyPr/>
        <a:lstStyle/>
        <a:p>
          <a:endParaRPr lang="ru-RU"/>
        </a:p>
      </dgm:t>
    </dgm:pt>
    <dgm:pt modelId="{23325AE3-559D-46C1-A6DA-74F9F33010E1}" type="pres">
      <dgm:prSet presAssocID="{994A1B2D-90DF-4B80-968E-33139D3749CC}" presName="Name0" presStyleCnt="0">
        <dgm:presLayoutVars>
          <dgm:dir/>
          <dgm:resizeHandles val="exact"/>
        </dgm:presLayoutVars>
      </dgm:prSet>
      <dgm:spPr/>
    </dgm:pt>
    <dgm:pt modelId="{B518482A-1678-467A-A950-4B726E4598E6}" type="pres">
      <dgm:prSet presAssocID="{58CF2011-ED79-4F44-95B6-EF547B2A6C7D}" presName="compNode" presStyleCnt="0"/>
      <dgm:spPr/>
    </dgm:pt>
    <dgm:pt modelId="{70296804-9276-4766-8A27-6E4920605EEC}" type="pres">
      <dgm:prSet presAssocID="{58CF2011-ED79-4F44-95B6-EF547B2A6C7D}" presName="pictRect" presStyleLbl="node1" presStyleIdx="0" presStyleCnt="4" custScaleX="171654" custScaleY="24124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403EB7CA-91AB-474E-80C9-95576730E986}" type="pres">
      <dgm:prSet presAssocID="{58CF2011-ED79-4F44-95B6-EF547B2A6C7D}" presName="textRect" presStyleLbl="revTx" presStyleIdx="0" presStyleCnt="4">
        <dgm:presLayoutVars>
          <dgm:bulletEnabled val="1"/>
        </dgm:presLayoutVars>
      </dgm:prSet>
      <dgm:spPr/>
    </dgm:pt>
    <dgm:pt modelId="{E7B68DAB-D5C2-42EA-9C38-623B7E93AAD7}" type="pres">
      <dgm:prSet presAssocID="{8D0E27D0-BC9B-4800-86FF-C837E2DF65D4}" presName="sibTrans" presStyleLbl="sibTrans2D1" presStyleIdx="0" presStyleCnt="0"/>
      <dgm:spPr/>
    </dgm:pt>
    <dgm:pt modelId="{ADB7CA0F-D3C7-4B4F-96D3-8B3E179A7CD9}" type="pres">
      <dgm:prSet presAssocID="{388F1F59-6AC7-49C3-BADF-9C653B332F0D}" presName="compNode" presStyleCnt="0"/>
      <dgm:spPr/>
    </dgm:pt>
    <dgm:pt modelId="{F276B6B9-086B-429A-B031-DEC422152B36}" type="pres">
      <dgm:prSet presAssocID="{388F1F59-6AC7-49C3-BADF-9C653B332F0D}" presName="pictRect" presStyleLbl="node1" presStyleIdx="1" presStyleCnt="4" custScaleX="183303" custScaleY="241653" custLinFactNeighborX="40582" custLinFactNeighborY="-327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D824C8EF-8F38-47EE-A5DA-299CC6256740}" type="pres">
      <dgm:prSet presAssocID="{388F1F59-6AC7-49C3-BADF-9C653B332F0D}" presName="textRect" presStyleLbl="revTx" presStyleIdx="1" presStyleCnt="4">
        <dgm:presLayoutVars>
          <dgm:bulletEnabled val="1"/>
        </dgm:presLayoutVars>
      </dgm:prSet>
      <dgm:spPr/>
    </dgm:pt>
    <dgm:pt modelId="{1E298ECF-A816-483A-B7AD-FD505ED1AE3A}" type="pres">
      <dgm:prSet presAssocID="{7DC340E5-5F55-4CAD-810D-4298A22E054B}" presName="sibTrans" presStyleLbl="sibTrans2D1" presStyleIdx="0" presStyleCnt="0"/>
      <dgm:spPr/>
    </dgm:pt>
    <dgm:pt modelId="{C56C0A78-B77F-4C46-B7A2-0FE6D696C914}" type="pres">
      <dgm:prSet presAssocID="{3D770016-A955-439F-8767-257C7FB7118D}" presName="compNode" presStyleCnt="0"/>
      <dgm:spPr/>
    </dgm:pt>
    <dgm:pt modelId="{97EFFF50-BF75-4E97-9B2F-66A02F8FCBB2}" type="pres">
      <dgm:prSet presAssocID="{3D770016-A955-439F-8767-257C7FB7118D}" presName="pictRect" presStyleLbl="node1" presStyleIdx="2" presStyleCnt="4" custScaleX="183581" custScaleY="21169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4C52A15A-3EE1-488B-A717-FED143AEE7F7}" type="pres">
      <dgm:prSet presAssocID="{3D770016-A955-439F-8767-257C7FB7118D}" presName="textRect" presStyleLbl="revTx" presStyleIdx="2" presStyleCnt="4">
        <dgm:presLayoutVars>
          <dgm:bulletEnabled val="1"/>
        </dgm:presLayoutVars>
      </dgm:prSet>
      <dgm:spPr/>
    </dgm:pt>
    <dgm:pt modelId="{D61142D2-6DBF-451C-867C-8F2FB7228E4E}" type="pres">
      <dgm:prSet presAssocID="{86A4D323-8050-4862-88EE-B07AE33C0FF8}" presName="sibTrans" presStyleLbl="sibTrans2D1" presStyleIdx="0" presStyleCnt="0"/>
      <dgm:spPr/>
    </dgm:pt>
    <dgm:pt modelId="{E6CEB6C3-EF6E-430E-82B4-B728D0324E8E}" type="pres">
      <dgm:prSet presAssocID="{8A7E8BAE-5F5C-4043-A436-E64117BDFCFB}" presName="compNode" presStyleCnt="0"/>
      <dgm:spPr/>
    </dgm:pt>
    <dgm:pt modelId="{E9CBEC01-E6F7-49E4-AB3E-BE185C05393B}" type="pres">
      <dgm:prSet presAssocID="{8A7E8BAE-5F5C-4043-A436-E64117BDFCFB}" presName="pictRect" presStyleLbl="node1" presStyleIdx="3" presStyleCnt="4" custScaleX="182988" custScaleY="201611" custLinFactNeighborX="18600" custLinFactNeighborY="-4090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gm:spPr>
    </dgm:pt>
    <dgm:pt modelId="{D65179CB-195B-4060-BB6A-E74D82A09C9B}" type="pres">
      <dgm:prSet presAssocID="{8A7E8BAE-5F5C-4043-A436-E64117BDFCFB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A5FF2E5D-02BF-41DB-B05D-5F995461CE96}" type="presOf" srcId="{994A1B2D-90DF-4B80-968E-33139D3749CC}" destId="{23325AE3-559D-46C1-A6DA-74F9F33010E1}" srcOrd="0" destOrd="0" presId="urn:microsoft.com/office/officeart/2005/8/layout/pList1"/>
    <dgm:cxn modelId="{994300B9-017A-45D0-81AA-66F8BF095A83}" type="presOf" srcId="{7DC340E5-5F55-4CAD-810D-4298A22E054B}" destId="{1E298ECF-A816-483A-B7AD-FD505ED1AE3A}" srcOrd="0" destOrd="0" presId="urn:microsoft.com/office/officeart/2005/8/layout/pList1"/>
    <dgm:cxn modelId="{52DBC201-DCAF-4A37-BEF9-9E32C1DD8549}" type="presOf" srcId="{3D770016-A955-439F-8767-257C7FB7118D}" destId="{4C52A15A-3EE1-488B-A717-FED143AEE7F7}" srcOrd="0" destOrd="0" presId="urn:microsoft.com/office/officeart/2005/8/layout/pList1"/>
    <dgm:cxn modelId="{75B27019-BCD8-411C-9EF6-28A5126DBC14}" srcId="{994A1B2D-90DF-4B80-968E-33139D3749CC}" destId="{388F1F59-6AC7-49C3-BADF-9C653B332F0D}" srcOrd="1" destOrd="0" parTransId="{6D429099-B9BF-4BD0-8CF1-94F86E52F7F1}" sibTransId="{7DC340E5-5F55-4CAD-810D-4298A22E054B}"/>
    <dgm:cxn modelId="{4760D8C6-30AC-4F67-9D20-59C9338E6FB9}" srcId="{994A1B2D-90DF-4B80-968E-33139D3749CC}" destId="{8A7E8BAE-5F5C-4043-A436-E64117BDFCFB}" srcOrd="3" destOrd="0" parTransId="{49D98387-76F1-412A-A451-6ED331B4103C}" sibTransId="{30C909DC-215C-4C49-AFFF-DBBE1F7AC0E9}"/>
    <dgm:cxn modelId="{C091D978-C044-4888-9B65-1007B4FB7E69}" srcId="{994A1B2D-90DF-4B80-968E-33139D3749CC}" destId="{3D770016-A955-439F-8767-257C7FB7118D}" srcOrd="2" destOrd="0" parTransId="{9521ADF0-0E5A-4A32-9006-EE69CC7884A5}" sibTransId="{86A4D323-8050-4862-88EE-B07AE33C0FF8}"/>
    <dgm:cxn modelId="{53F4ED0B-DDC7-4ED0-9354-299ED1B6E015}" type="presOf" srcId="{86A4D323-8050-4862-88EE-B07AE33C0FF8}" destId="{D61142D2-6DBF-451C-867C-8F2FB7228E4E}" srcOrd="0" destOrd="0" presId="urn:microsoft.com/office/officeart/2005/8/layout/pList1"/>
    <dgm:cxn modelId="{D599386D-DF77-4119-813D-01343A6ACA64}" srcId="{994A1B2D-90DF-4B80-968E-33139D3749CC}" destId="{58CF2011-ED79-4F44-95B6-EF547B2A6C7D}" srcOrd="0" destOrd="0" parTransId="{A1653D3F-BACA-44A8-A6F6-A4B7F2157D23}" sibTransId="{8D0E27D0-BC9B-4800-86FF-C837E2DF65D4}"/>
    <dgm:cxn modelId="{F4C1BBF8-647E-416E-B6EF-49FD3552E893}" type="presOf" srcId="{8D0E27D0-BC9B-4800-86FF-C837E2DF65D4}" destId="{E7B68DAB-D5C2-42EA-9C38-623B7E93AAD7}" srcOrd="0" destOrd="0" presId="urn:microsoft.com/office/officeart/2005/8/layout/pList1"/>
    <dgm:cxn modelId="{3323195C-CD7B-454D-BECE-A1D6363B855B}" type="presOf" srcId="{8A7E8BAE-5F5C-4043-A436-E64117BDFCFB}" destId="{D65179CB-195B-4060-BB6A-E74D82A09C9B}" srcOrd="0" destOrd="0" presId="urn:microsoft.com/office/officeart/2005/8/layout/pList1"/>
    <dgm:cxn modelId="{54983198-55F2-4894-8207-411DDBB16316}" type="presOf" srcId="{388F1F59-6AC7-49C3-BADF-9C653B332F0D}" destId="{D824C8EF-8F38-47EE-A5DA-299CC6256740}" srcOrd="0" destOrd="0" presId="urn:microsoft.com/office/officeart/2005/8/layout/pList1"/>
    <dgm:cxn modelId="{ED3E9158-2360-41A5-BF15-43546A9C2A11}" type="presOf" srcId="{58CF2011-ED79-4F44-95B6-EF547B2A6C7D}" destId="{403EB7CA-91AB-474E-80C9-95576730E986}" srcOrd="0" destOrd="0" presId="urn:microsoft.com/office/officeart/2005/8/layout/pList1"/>
    <dgm:cxn modelId="{8433F70A-5F48-4234-B7A5-EBF2C6A143C3}" type="presParOf" srcId="{23325AE3-559D-46C1-A6DA-74F9F33010E1}" destId="{B518482A-1678-467A-A950-4B726E4598E6}" srcOrd="0" destOrd="0" presId="urn:microsoft.com/office/officeart/2005/8/layout/pList1"/>
    <dgm:cxn modelId="{3FFAE97C-DAEA-4DE5-8084-7663C472BF96}" type="presParOf" srcId="{B518482A-1678-467A-A950-4B726E4598E6}" destId="{70296804-9276-4766-8A27-6E4920605EEC}" srcOrd="0" destOrd="0" presId="urn:microsoft.com/office/officeart/2005/8/layout/pList1"/>
    <dgm:cxn modelId="{FCD6808D-843E-4EAB-BEF2-8A6FF0DCB877}" type="presParOf" srcId="{B518482A-1678-467A-A950-4B726E4598E6}" destId="{403EB7CA-91AB-474E-80C9-95576730E986}" srcOrd="1" destOrd="0" presId="urn:microsoft.com/office/officeart/2005/8/layout/pList1"/>
    <dgm:cxn modelId="{22660A2E-B793-4945-A3B7-7288EBB724CC}" type="presParOf" srcId="{23325AE3-559D-46C1-A6DA-74F9F33010E1}" destId="{E7B68DAB-D5C2-42EA-9C38-623B7E93AAD7}" srcOrd="1" destOrd="0" presId="urn:microsoft.com/office/officeart/2005/8/layout/pList1"/>
    <dgm:cxn modelId="{BF3758F8-3F82-42C8-A5B2-8C0EC5C3CC4D}" type="presParOf" srcId="{23325AE3-559D-46C1-A6DA-74F9F33010E1}" destId="{ADB7CA0F-D3C7-4B4F-96D3-8B3E179A7CD9}" srcOrd="2" destOrd="0" presId="urn:microsoft.com/office/officeart/2005/8/layout/pList1"/>
    <dgm:cxn modelId="{4BB66CBD-2F93-4C3D-98AE-06E108DED26A}" type="presParOf" srcId="{ADB7CA0F-D3C7-4B4F-96D3-8B3E179A7CD9}" destId="{F276B6B9-086B-429A-B031-DEC422152B36}" srcOrd="0" destOrd="0" presId="urn:microsoft.com/office/officeart/2005/8/layout/pList1"/>
    <dgm:cxn modelId="{9548E5BF-4D4C-44C3-AF06-FC8FA09D8825}" type="presParOf" srcId="{ADB7CA0F-D3C7-4B4F-96D3-8B3E179A7CD9}" destId="{D824C8EF-8F38-47EE-A5DA-299CC6256740}" srcOrd="1" destOrd="0" presId="urn:microsoft.com/office/officeart/2005/8/layout/pList1"/>
    <dgm:cxn modelId="{76E69454-7900-4D97-8593-72111876EE59}" type="presParOf" srcId="{23325AE3-559D-46C1-A6DA-74F9F33010E1}" destId="{1E298ECF-A816-483A-B7AD-FD505ED1AE3A}" srcOrd="3" destOrd="0" presId="urn:microsoft.com/office/officeart/2005/8/layout/pList1"/>
    <dgm:cxn modelId="{A0FC08C8-B985-4DAF-94F9-F82DF99C5BDF}" type="presParOf" srcId="{23325AE3-559D-46C1-A6DA-74F9F33010E1}" destId="{C56C0A78-B77F-4C46-B7A2-0FE6D696C914}" srcOrd="4" destOrd="0" presId="urn:microsoft.com/office/officeart/2005/8/layout/pList1"/>
    <dgm:cxn modelId="{51A04C4C-C288-4E82-96E6-BAB45D4EC9EB}" type="presParOf" srcId="{C56C0A78-B77F-4C46-B7A2-0FE6D696C914}" destId="{97EFFF50-BF75-4E97-9B2F-66A02F8FCBB2}" srcOrd="0" destOrd="0" presId="urn:microsoft.com/office/officeart/2005/8/layout/pList1"/>
    <dgm:cxn modelId="{3323F069-59E1-48D6-A51D-23CAF65FBAEF}" type="presParOf" srcId="{C56C0A78-B77F-4C46-B7A2-0FE6D696C914}" destId="{4C52A15A-3EE1-488B-A717-FED143AEE7F7}" srcOrd="1" destOrd="0" presId="urn:microsoft.com/office/officeart/2005/8/layout/pList1"/>
    <dgm:cxn modelId="{67A8DF70-30EA-41E0-886D-A1940A8186E3}" type="presParOf" srcId="{23325AE3-559D-46C1-A6DA-74F9F33010E1}" destId="{D61142D2-6DBF-451C-867C-8F2FB7228E4E}" srcOrd="5" destOrd="0" presId="urn:microsoft.com/office/officeart/2005/8/layout/pList1"/>
    <dgm:cxn modelId="{4A6CE3EE-81BD-438E-9748-A134A88AC85E}" type="presParOf" srcId="{23325AE3-559D-46C1-A6DA-74F9F33010E1}" destId="{E6CEB6C3-EF6E-430E-82B4-B728D0324E8E}" srcOrd="6" destOrd="0" presId="urn:microsoft.com/office/officeart/2005/8/layout/pList1"/>
    <dgm:cxn modelId="{38DEB335-2AFE-44B9-B649-7C1218E6BEA1}" type="presParOf" srcId="{E6CEB6C3-EF6E-430E-82B4-B728D0324E8E}" destId="{E9CBEC01-E6F7-49E4-AB3E-BE185C05393B}" srcOrd="0" destOrd="0" presId="urn:microsoft.com/office/officeart/2005/8/layout/pList1"/>
    <dgm:cxn modelId="{47BA493D-A261-4CFA-86F7-F81694A1476A}" type="presParOf" srcId="{E6CEB6C3-EF6E-430E-82B4-B728D0324E8E}" destId="{D65179CB-195B-4060-BB6A-E74D82A09C9B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96804-9276-4766-8A27-6E4920605EEC}">
      <dsp:nvSpPr>
        <dsp:cNvPr id="0" name=""/>
        <dsp:cNvSpPr/>
      </dsp:nvSpPr>
      <dsp:spPr>
        <a:xfrm>
          <a:off x="95604" y="62861"/>
          <a:ext cx="2813069" cy="2723946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EB7CA-91AB-474E-80C9-95576730E986}">
      <dsp:nvSpPr>
        <dsp:cNvPr id="0" name=""/>
        <dsp:cNvSpPr/>
      </dsp:nvSpPr>
      <dsp:spPr>
        <a:xfrm>
          <a:off x="682737" y="1989402"/>
          <a:ext cx="1638802" cy="607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800" kern="1200"/>
        </a:p>
      </dsp:txBody>
      <dsp:txXfrm>
        <a:off x="682737" y="1989402"/>
        <a:ext cx="1638802" cy="607995"/>
      </dsp:txXfrm>
    </dsp:sp>
    <dsp:sp modelId="{F276B6B9-086B-429A-B031-DEC422152B36}">
      <dsp:nvSpPr>
        <dsp:cNvPr id="0" name=""/>
        <dsp:cNvSpPr/>
      </dsp:nvSpPr>
      <dsp:spPr>
        <a:xfrm>
          <a:off x="3168226" y="23596"/>
          <a:ext cx="3003973" cy="2728587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4C8EF-8F38-47EE-A5DA-299CC6256740}">
      <dsp:nvSpPr>
        <dsp:cNvPr id="0" name=""/>
        <dsp:cNvSpPr/>
      </dsp:nvSpPr>
      <dsp:spPr>
        <a:xfrm>
          <a:off x="3755208" y="1989402"/>
          <a:ext cx="1638802" cy="607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800" kern="1200"/>
        </a:p>
      </dsp:txBody>
      <dsp:txXfrm>
        <a:off x="3755208" y="1989402"/>
        <a:ext cx="1638802" cy="607995"/>
      </dsp:txXfrm>
    </dsp:sp>
    <dsp:sp modelId="{97EFFF50-BF75-4E97-9B2F-66A02F8FCBB2}">
      <dsp:nvSpPr>
        <dsp:cNvPr id="0" name=""/>
        <dsp:cNvSpPr/>
      </dsp:nvSpPr>
      <dsp:spPr>
        <a:xfrm>
          <a:off x="455" y="2953009"/>
          <a:ext cx="3008529" cy="2390298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2A15A-3EE1-488B-A717-FED143AEE7F7}">
      <dsp:nvSpPr>
        <dsp:cNvPr id="0" name=""/>
        <dsp:cNvSpPr/>
      </dsp:nvSpPr>
      <dsp:spPr>
        <a:xfrm>
          <a:off x="685318" y="4712726"/>
          <a:ext cx="1638802" cy="607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800" kern="1200" dirty="0"/>
        </a:p>
      </dsp:txBody>
      <dsp:txXfrm>
        <a:off x="685318" y="4712726"/>
        <a:ext cx="1638802" cy="607995"/>
      </dsp:txXfrm>
    </dsp:sp>
    <dsp:sp modelId="{E9CBEC01-E6F7-49E4-AB3E-BE185C05393B}">
      <dsp:nvSpPr>
        <dsp:cNvPr id="0" name=""/>
        <dsp:cNvSpPr/>
      </dsp:nvSpPr>
      <dsp:spPr>
        <a:xfrm>
          <a:off x="3173388" y="2946580"/>
          <a:ext cx="2998811" cy="2276459"/>
        </a:xfrm>
        <a:prstGeom prst="round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179CB-195B-4060-BB6A-E74D82A09C9B}">
      <dsp:nvSpPr>
        <dsp:cNvPr id="0" name=""/>
        <dsp:cNvSpPr/>
      </dsp:nvSpPr>
      <dsp:spPr>
        <a:xfrm>
          <a:off x="3852938" y="4695559"/>
          <a:ext cx="1638802" cy="607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800" kern="1200"/>
        </a:p>
      </dsp:txBody>
      <dsp:txXfrm>
        <a:off x="3852938" y="4695559"/>
        <a:ext cx="1638802" cy="607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491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01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8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59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77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73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18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75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96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9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4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93DE1-9A23-474F-AEE9-4BDBE5F365AA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8BDE6-71B7-4E34-8D64-039373EACE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53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6858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5300" dirty="0"/>
              <a:t>Разработка туристского продукта на примере познавательного туризма малых городов России</a:t>
            </a:r>
            <a:br>
              <a:rPr lang="ru-RU" sz="5300" dirty="0"/>
            </a:br>
            <a:r>
              <a:rPr lang="ru-RU" sz="3100" dirty="0"/>
              <a:t>(на примере города Вольска Саратовской области)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39614" y="5724427"/>
            <a:ext cx="9144000" cy="84716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r>
              <a:rPr lang="ru-RU" dirty="0"/>
              <a:t>Выполнила: Позднякова Юлия Артемовна, группа ТГ-31</a:t>
            </a:r>
          </a:p>
          <a:p>
            <a:r>
              <a:rPr lang="ru-RU" dirty="0"/>
              <a:t>Руководитель: </a:t>
            </a:r>
            <a:r>
              <a:rPr lang="ru-RU" dirty="0" err="1"/>
              <a:t>Варнакова</a:t>
            </a:r>
            <a:r>
              <a:rPr lang="ru-RU" dirty="0"/>
              <a:t> Ирина Анатольевна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189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74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Актуальность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059874"/>
            <a:ext cx="10938164" cy="5590308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ru-RU" dirty="0"/>
              <a:t>Внутренний туризм в РФ вырос до 80+ млн поездок (2025 г.).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Рост спроса на аутентичные путешествия по малым историческим городам (+6,1%).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Проблема: Вольск — единственное историческое поселение федерального значения в Саратовской области, но его потенциал практически не реализован.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Отсутствие комплексного турпродукта для молодежи и семей</a:t>
            </a:r>
          </a:p>
        </p:txBody>
      </p:sp>
    </p:spTree>
    <p:extLst>
      <p:ext uri="{BB962C8B-B14F-4D97-AF65-F5344CB8AC3E}">
        <p14:creationId xmlns:p14="http://schemas.microsoft.com/office/powerpoint/2010/main" val="71883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0950" y="-2015836"/>
            <a:ext cx="3932237" cy="16002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7" y="457201"/>
            <a:ext cx="6558539" cy="540385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11728" y="457202"/>
            <a:ext cx="4460298" cy="5403850"/>
          </a:xfrm>
        </p:spPr>
        <p:txBody>
          <a:bodyPr>
            <a:noAutofit/>
          </a:bodyPr>
          <a:lstStyle/>
          <a:p>
            <a:r>
              <a:rPr lang="ru-RU" sz="2400" dirty="0"/>
              <a:t>Цель: Разработать и обосновать познавательный тур «Купеческая столица Саратовской губернии», оценить его эффективность.</a:t>
            </a:r>
          </a:p>
          <a:p>
            <a:r>
              <a:rPr lang="ru-RU" sz="2400" dirty="0"/>
              <a:t> </a:t>
            </a:r>
          </a:p>
          <a:p>
            <a:r>
              <a:rPr lang="ru-RU" sz="2400" dirty="0"/>
              <a:t>Объект исследования: Познавательный туризм в малых исторических городах России.</a:t>
            </a:r>
          </a:p>
          <a:p>
            <a:r>
              <a:rPr lang="ru-RU" sz="2400" dirty="0"/>
              <a:t> </a:t>
            </a:r>
          </a:p>
          <a:p>
            <a:r>
              <a:rPr lang="ru-RU" sz="2400" dirty="0"/>
              <a:t>Предмет исследования: Процесс разработки и экономического обоснования турпродукта на примере г. Вольска.</a:t>
            </a:r>
          </a:p>
        </p:txBody>
      </p:sp>
    </p:spTree>
    <p:extLst>
      <p:ext uri="{BB962C8B-B14F-4D97-AF65-F5344CB8AC3E}">
        <p14:creationId xmlns:p14="http://schemas.microsoft.com/office/powerpoint/2010/main" val="204169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3270" y="173421"/>
            <a:ext cx="4909918" cy="982717"/>
          </a:xfrm>
        </p:spPr>
        <p:txBody>
          <a:bodyPr>
            <a:normAutofit fontScale="90000"/>
          </a:bodyPr>
          <a:lstStyle/>
          <a:p>
            <a:r>
              <a:rPr lang="ru-RU" dirty="0"/>
              <a:t>Туристский потенциал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г</a:t>
            </a:r>
            <a:r>
              <a:rPr lang="ru-RU" dirty="0"/>
              <a:t>. Вольска (Сильные стороны)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532429"/>
              </p:ext>
            </p:extLst>
          </p:nvPr>
        </p:nvGraphicFramePr>
        <p:xfrm>
          <a:off x="5183188" y="457200"/>
          <a:ext cx="6172200" cy="5403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73270" y="1156137"/>
            <a:ext cx="4498756" cy="552844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Вольск — «Жемчужина Поволжья»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 </a:t>
            </a:r>
            <a:r>
              <a:rPr lang="ru-RU" sz="1900" dirty="0" smtClean="0"/>
              <a:t>Статус</a:t>
            </a:r>
            <a:r>
              <a:rPr lang="ru-RU" sz="1900" dirty="0"/>
              <a:t>: Историческое поселение федерального значения (единственный в области).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900" dirty="0" smtClean="0"/>
              <a:t>Архитектура</a:t>
            </a:r>
            <a:r>
              <a:rPr lang="ru-RU" sz="1900" dirty="0"/>
              <a:t>: Цельная застройка XIX в. (классицизм/ампир). «Музей под открытым небом» (особняки купцов, ротонды, каланчи).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 </a:t>
            </a:r>
            <a:r>
              <a:rPr lang="ru-RU" sz="1900" dirty="0" smtClean="0"/>
              <a:t>Музей</a:t>
            </a:r>
            <a:r>
              <a:rPr lang="ru-RU" sz="1900" dirty="0"/>
              <a:t>: </a:t>
            </a:r>
            <a:r>
              <a:rPr lang="ru-RU" sz="1900" dirty="0" err="1"/>
              <a:t>Вольский</a:t>
            </a:r>
            <a:r>
              <a:rPr lang="ru-RU" sz="1900" dirty="0"/>
              <a:t> краеведческий музей — один из крупнейших провинциальных музеев РФ (фонды, картинная галерея в особняке </a:t>
            </a:r>
            <a:r>
              <a:rPr lang="ru-RU" sz="1900" dirty="0" err="1"/>
              <a:t>Менькова</a:t>
            </a:r>
            <a:r>
              <a:rPr lang="ru-RU" sz="1900" dirty="0"/>
              <a:t>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 </a:t>
            </a:r>
            <a:r>
              <a:rPr lang="ru-RU" sz="1900" dirty="0" smtClean="0"/>
              <a:t>Природа</a:t>
            </a:r>
            <a:r>
              <a:rPr lang="ru-RU" sz="1900" dirty="0"/>
              <a:t>: Меловые холмы, Волга, уникальный палеонтологический карьер «Красный Октябрь»</a:t>
            </a:r>
          </a:p>
        </p:txBody>
      </p:sp>
    </p:spTree>
    <p:extLst>
      <p:ext uri="{BB962C8B-B14F-4D97-AF65-F5344CB8AC3E}">
        <p14:creationId xmlns:p14="http://schemas.microsoft.com/office/powerpoint/2010/main" val="183832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0164" y="457200"/>
            <a:ext cx="4501861" cy="1059873"/>
          </a:xfrm>
        </p:spPr>
        <p:txBody>
          <a:bodyPr/>
          <a:lstStyle/>
          <a:p>
            <a:r>
              <a:rPr lang="ru-RU" dirty="0"/>
              <a:t>Проблематика и анализ среды (SWOT / PEST)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70164" y="1517073"/>
            <a:ext cx="4501861" cy="435191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Инфраструктура: Дефицит отелей 3-4* (всего 50-70 номеров), удаленность от ж/д вокзала (20 ч из Москвы).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 </a:t>
            </a:r>
            <a:r>
              <a:rPr lang="ru-RU" sz="1800" dirty="0" smtClean="0"/>
              <a:t>Сезонность</a:t>
            </a:r>
            <a:r>
              <a:rPr lang="ru-RU" sz="1800" dirty="0"/>
              <a:t>: 90% туристов приезжают летом.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 </a:t>
            </a:r>
            <a:r>
              <a:rPr lang="ru-RU" sz="1800" dirty="0" smtClean="0"/>
              <a:t>Кадры</a:t>
            </a:r>
            <a:r>
              <a:rPr lang="ru-RU" sz="1800" dirty="0"/>
              <a:t>: Отток населения (980 чел/год), нехватка молодежи.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 </a:t>
            </a:r>
            <a:r>
              <a:rPr lang="ru-RU" sz="1800" dirty="0" smtClean="0"/>
              <a:t>Узнаваемость</a:t>
            </a:r>
            <a:r>
              <a:rPr lang="ru-RU" sz="1800" dirty="0"/>
              <a:t>: Город не раскручен за пределами области.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 </a:t>
            </a:r>
            <a:r>
              <a:rPr lang="ru-RU" sz="1800" dirty="0" smtClean="0"/>
              <a:t>Решение</a:t>
            </a:r>
            <a:r>
              <a:rPr lang="ru-RU" sz="1800" dirty="0"/>
              <a:t>: Ориентация тура на автотуристов из ближайших регионов (Самара, Саратов, Пенза) и создание круглогодичной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83681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207818"/>
            <a:ext cx="3932237" cy="1849582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Разработанный тур «Купеческая столица Саратовской губернии»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0292" y="2057400"/>
            <a:ext cx="4191733" cy="3811588"/>
          </a:xfrm>
        </p:spPr>
        <p:txBody>
          <a:bodyPr>
            <a:noAutofit/>
          </a:bodyPr>
          <a:lstStyle/>
          <a:p>
            <a:r>
              <a:rPr lang="ru-RU" sz="1800" dirty="0"/>
              <a:t>Тип: Тур выходного дня (2 дня / 1 ночь).</a:t>
            </a:r>
          </a:p>
          <a:p>
            <a:r>
              <a:rPr lang="ru-RU" sz="1800" dirty="0"/>
              <a:t> </a:t>
            </a:r>
            <a:r>
              <a:rPr lang="ru-RU" sz="1800" dirty="0" smtClean="0"/>
              <a:t>УТП </a:t>
            </a:r>
            <a:r>
              <a:rPr lang="ru-RU" sz="1800" dirty="0"/>
              <a:t>(Уникальное торговое предложение):</a:t>
            </a:r>
          </a:p>
          <a:p>
            <a:r>
              <a:rPr lang="ru-RU" sz="1800" dirty="0"/>
              <a:t>«Единственный исторический город федерального значения, где архитектура XIX века сохранилась целиком, а меловые холмы создают неповторимые панорамы. Вы не просто смотрите — вы живете в купеческом городе».</a:t>
            </a:r>
          </a:p>
          <a:p>
            <a:r>
              <a:rPr lang="ru-RU" sz="1800" dirty="0"/>
              <a:t> </a:t>
            </a:r>
            <a:r>
              <a:rPr lang="ru-RU" sz="1800" dirty="0" smtClean="0"/>
              <a:t>Целевая </a:t>
            </a:r>
            <a:r>
              <a:rPr lang="ru-RU" sz="1800" dirty="0"/>
              <a:t>аудитория:</a:t>
            </a:r>
          </a:p>
          <a:p>
            <a:r>
              <a:rPr lang="ru-RU" sz="1800" dirty="0"/>
              <a:t> </a:t>
            </a:r>
            <a:r>
              <a:rPr lang="ru-RU" sz="1800" dirty="0" smtClean="0"/>
              <a:t>Семьи </a:t>
            </a:r>
            <a:r>
              <a:rPr lang="ru-RU" sz="1800" dirty="0"/>
              <a:t>с детьми (40%)</a:t>
            </a:r>
          </a:p>
          <a:p>
            <a:r>
              <a:rPr lang="ru-RU" sz="1800" dirty="0"/>
              <a:t> </a:t>
            </a:r>
            <a:r>
              <a:rPr lang="ru-RU" sz="1800" dirty="0" smtClean="0"/>
              <a:t>Молодежь </a:t>
            </a:r>
            <a:r>
              <a:rPr lang="ru-RU" sz="1800" dirty="0"/>
              <a:t>18-30 лет (20%)</a:t>
            </a:r>
          </a:p>
          <a:p>
            <a:r>
              <a:rPr lang="ru-RU" sz="1800" dirty="0"/>
              <a:t> </a:t>
            </a:r>
            <a:r>
              <a:rPr lang="ru-RU" sz="1800" dirty="0" smtClean="0"/>
              <a:t>Туристы </a:t>
            </a:r>
            <a:r>
              <a:rPr lang="ru-RU" sz="1800" dirty="0"/>
              <a:t>«серебряного возраста» и корпоративные группы.</a:t>
            </a:r>
          </a:p>
        </p:txBody>
      </p:sp>
    </p:spTree>
    <p:extLst>
      <p:ext uri="{BB962C8B-B14F-4D97-AF65-F5344CB8AC3E}">
        <p14:creationId xmlns:p14="http://schemas.microsoft.com/office/powerpoint/2010/main" val="298319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20180" y="211016"/>
            <a:ext cx="6211643" cy="1072662"/>
          </a:xfrm>
        </p:spPr>
        <p:txBody>
          <a:bodyPr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Программа тура (День 1)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6863" y="1131583"/>
            <a:ext cx="4455502" cy="488156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День 1. Знакомство с купеческой столицей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09:30 — Трансфер Саратов — Вольск (комфортабельный микроавтобус).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12:00 — Размещение в гостинице «Россия» (в центре).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12:00-13:30 — Пешеходная экскурсия: Площадь Свободы, Свято-Троицкий собор, ул. Революционная (местный Арбат), особняки купцов, пожарная каланча.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14:30-16:30 — Посещение </a:t>
            </a:r>
            <a:r>
              <a:rPr lang="ru-RU" dirty="0" err="1"/>
              <a:t>Вольского</a:t>
            </a:r>
            <a:r>
              <a:rPr lang="ru-RU" dirty="0"/>
              <a:t> краеведческого музея и Картинной галереи (особняк </a:t>
            </a:r>
            <a:r>
              <a:rPr lang="ru-RU" dirty="0" err="1"/>
              <a:t>Менькова</a:t>
            </a:r>
            <a:r>
              <a:rPr lang="ru-RU" dirty="0"/>
              <a:t>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17:00 — Мастер-класс «Купеческое чаепитие» (дегустация пряников по старинным рецептам).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546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92814" y="-720969"/>
            <a:ext cx="6180747" cy="16002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Программа тура (День 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18746" y="987425"/>
            <a:ext cx="4253279" cy="537820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День 2. Природные жемчужины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09:00 — Выезд на меловые холмы. Панорамный вид на Волгу и геометрически правильную планировку Вольска.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11:00 — Посещение мелового карьера «Красный Октябрь» (палеонтологический музей под открытым небом).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Активность: поиск окаменелостей (аммониты, белемниты), фотосессия на фоне бирюзового озера.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12:30 — Пикник на природе (или обед в кафе).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14:30 — Ботанический сад / Отдел природы музея.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15:30 — Свободное время на сувениры (магниты, книги, керамика).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17:30 — Возвращение в Саратов</a:t>
            </a:r>
          </a:p>
        </p:txBody>
      </p:sp>
    </p:spTree>
    <p:extLst>
      <p:ext uri="{BB962C8B-B14F-4D97-AF65-F5344CB8AC3E}">
        <p14:creationId xmlns:p14="http://schemas.microsoft.com/office/powerpoint/2010/main" val="98687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5236" y="-167053"/>
            <a:ext cx="8655904" cy="1055077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Экономический расчет (Финансовая модель)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9616" y="888024"/>
            <a:ext cx="4743572" cy="552156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Калькуляция на группу 20 человек: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Показатель	Сумма (на группу)</a:t>
            </a:r>
          </a:p>
          <a:p>
            <a:r>
              <a:rPr lang="ru-RU" dirty="0"/>
              <a:t>Себестоимость тура	109 200 руб.</a:t>
            </a:r>
          </a:p>
          <a:p>
            <a:r>
              <a:rPr lang="ru-RU" dirty="0"/>
              <a:t>Цена тура (1 турист)	6 450 руб. (рентабельность 18%)</a:t>
            </a:r>
          </a:p>
          <a:p>
            <a:r>
              <a:rPr lang="ru-RU" dirty="0"/>
              <a:t>Выручка с группы	129 000 руб.</a:t>
            </a:r>
          </a:p>
          <a:p>
            <a:r>
              <a:rPr lang="ru-RU" dirty="0"/>
              <a:t>Валовая прибыль с группы	19 800 руб.</a:t>
            </a:r>
          </a:p>
          <a:p>
            <a:r>
              <a:rPr lang="ru-RU" dirty="0"/>
              <a:t>Сравнение с конкурентами: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Хвалынск: 5 800–6 500 руб. (программа короче).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Сызрань: 6 200–7 000 руб.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Наш тур: 6 450 руб. (включен трансфер, 2 музея, мастер-класс, пикник).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Точка безубыточности: Всего 9 туристов в группе (окупаемость с первого заезда).</a:t>
            </a:r>
          </a:p>
        </p:txBody>
      </p:sp>
    </p:spTree>
    <p:extLst>
      <p:ext uri="{BB962C8B-B14F-4D97-AF65-F5344CB8AC3E}">
        <p14:creationId xmlns:p14="http://schemas.microsoft.com/office/powerpoint/2010/main" val="20011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59623" y="-729761"/>
            <a:ext cx="7702061" cy="1600200"/>
          </a:xfrm>
        </p:spPr>
        <p:txBody>
          <a:bodyPr/>
          <a:lstStyle/>
          <a:p>
            <a:r>
              <a:rPr lang="ru-RU" dirty="0"/>
              <a:t>План продаж и продвижения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19808" y="987425"/>
            <a:ext cx="4783015" cy="5571637"/>
          </a:xfrm>
        </p:spPr>
        <p:txBody>
          <a:bodyPr>
            <a:normAutofit/>
          </a:bodyPr>
          <a:lstStyle/>
          <a:p>
            <a:r>
              <a:rPr lang="ru-RU" dirty="0"/>
              <a:t>Бюджет маркетинга — 335 тыс. руб. (Окупаемость ~12 месяцев)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Каналы продвижения:</a:t>
            </a:r>
          </a:p>
          <a:p>
            <a:r>
              <a:rPr lang="ru-RU" dirty="0"/>
              <a:t> </a:t>
            </a:r>
          </a:p>
          <a:p>
            <a:r>
              <a:rPr lang="ru-RU" dirty="0" err="1"/>
              <a:t>Digital</a:t>
            </a:r>
            <a:r>
              <a:rPr lang="ru-RU" dirty="0"/>
              <a:t>: </a:t>
            </a:r>
            <a:r>
              <a:rPr lang="ru-RU" dirty="0" err="1"/>
              <a:t>Landing</a:t>
            </a:r>
            <a:r>
              <a:rPr lang="ru-RU" dirty="0"/>
              <a:t> </a:t>
            </a:r>
            <a:r>
              <a:rPr lang="ru-RU" dirty="0" err="1"/>
              <a:t>page</a:t>
            </a:r>
            <a:r>
              <a:rPr lang="ru-RU" dirty="0"/>
              <a:t>, </a:t>
            </a:r>
            <a:r>
              <a:rPr lang="ru-RU" dirty="0" err="1"/>
              <a:t>таргет</a:t>
            </a:r>
            <a:r>
              <a:rPr lang="ru-RU" dirty="0"/>
              <a:t> </a:t>
            </a:r>
            <a:r>
              <a:rPr lang="ru-RU" dirty="0" err="1"/>
              <a:t>ВКонтаке</a:t>
            </a:r>
            <a:r>
              <a:rPr lang="ru-RU" dirty="0"/>
              <a:t>, </a:t>
            </a:r>
            <a:r>
              <a:rPr lang="ru-RU" dirty="0" err="1"/>
              <a:t>Яндекс.Директ</a:t>
            </a:r>
            <a:r>
              <a:rPr lang="ru-RU" dirty="0"/>
              <a:t>.</a:t>
            </a:r>
          </a:p>
          <a:p>
            <a:r>
              <a:rPr lang="ru-RU" dirty="0"/>
              <a:t> </a:t>
            </a:r>
          </a:p>
          <a:p>
            <a:r>
              <a:rPr lang="ru-RU" dirty="0" err="1"/>
              <a:t>Инфлюенсеры</a:t>
            </a:r>
            <a:r>
              <a:rPr lang="ru-RU" dirty="0"/>
              <a:t>: Бесплатные туры для </a:t>
            </a:r>
            <a:r>
              <a:rPr lang="ru-RU" dirty="0" err="1"/>
              <a:t>блогеров</a:t>
            </a:r>
            <a:r>
              <a:rPr lang="ru-RU" dirty="0"/>
              <a:t> (путешествия, палеонтология).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B2B: Комиссия </a:t>
            </a:r>
            <a:r>
              <a:rPr lang="ru-RU" dirty="0" err="1"/>
              <a:t>турагентам</a:t>
            </a:r>
            <a:r>
              <a:rPr lang="ru-RU" dirty="0"/>
              <a:t> 10-12% (Саратов, Самара).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Офлайн: Участие в выставке «Отдых на Волге», буклеты в ТИЦ.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Прогноз ROAS: 7,7 руб. выручки на 1 руб. затрат.</a:t>
            </a:r>
          </a:p>
        </p:txBody>
      </p:sp>
    </p:spTree>
    <p:extLst>
      <p:ext uri="{BB962C8B-B14F-4D97-AF65-F5344CB8AC3E}">
        <p14:creationId xmlns:p14="http://schemas.microsoft.com/office/powerpoint/2010/main" val="190438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3896" y="-800100"/>
            <a:ext cx="5824781" cy="1600200"/>
          </a:xfrm>
        </p:spPr>
        <p:txBody>
          <a:bodyPr/>
          <a:lstStyle/>
          <a:p>
            <a:r>
              <a:rPr lang="ru-RU" dirty="0"/>
              <a:t>Прогноз эффективности (3 года)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9131" y="861645"/>
            <a:ext cx="4862147" cy="5846885"/>
          </a:xfrm>
        </p:spPr>
        <p:txBody>
          <a:bodyPr>
            <a:normAutofit/>
          </a:bodyPr>
          <a:lstStyle/>
          <a:p>
            <a:r>
              <a:rPr lang="ru-RU" dirty="0"/>
              <a:t>Умеренный сценарий: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Показатель	1-й год	2-й год	3-й год</a:t>
            </a:r>
          </a:p>
          <a:p>
            <a:r>
              <a:rPr lang="ru-RU" dirty="0"/>
              <a:t>Кол-во заездов	20	25	30</a:t>
            </a:r>
          </a:p>
          <a:p>
            <a:r>
              <a:rPr lang="ru-RU" dirty="0"/>
              <a:t>Выручка	</a:t>
            </a:r>
            <a:r>
              <a:rPr lang="ru-RU" dirty="0" smtClean="0"/>
              <a:t>                   </a:t>
            </a:r>
            <a:r>
              <a:rPr lang="ru-RU" sz="1200" dirty="0" smtClean="0"/>
              <a:t>2,58 </a:t>
            </a:r>
            <a:r>
              <a:rPr lang="ru-RU" sz="1200" dirty="0"/>
              <a:t>млн руб.	3,22 млн руб.	3,87 млн руб.</a:t>
            </a:r>
          </a:p>
          <a:p>
            <a:r>
              <a:rPr lang="ru-RU" dirty="0"/>
              <a:t>Чистая </a:t>
            </a:r>
            <a:r>
              <a:rPr lang="ru-RU" dirty="0" smtClean="0"/>
              <a:t>прибыль        </a:t>
            </a:r>
            <a:r>
              <a:rPr lang="ru-RU" sz="1200" dirty="0" smtClean="0"/>
              <a:t>316,8 </a:t>
            </a:r>
            <a:r>
              <a:rPr lang="ru-RU" sz="1200" dirty="0"/>
              <a:t>тыс. </a:t>
            </a:r>
            <a:r>
              <a:rPr lang="ru-RU" sz="1200" dirty="0" smtClean="0"/>
              <a:t>руб.396 </a:t>
            </a:r>
            <a:r>
              <a:rPr lang="ru-RU" sz="1200" dirty="0"/>
              <a:t>тыс. </a:t>
            </a:r>
            <a:r>
              <a:rPr lang="ru-RU" sz="1200" dirty="0" smtClean="0"/>
              <a:t>руб.475,2 </a:t>
            </a:r>
            <a:r>
              <a:rPr lang="ru-RU" sz="1200" dirty="0"/>
              <a:t>тыс. руб.</a:t>
            </a:r>
          </a:p>
          <a:p>
            <a:r>
              <a:rPr lang="ru-RU" dirty="0"/>
              <a:t>Рентабельность	12,3%	12,3%	12,3%</a:t>
            </a:r>
          </a:p>
          <a:p>
            <a:r>
              <a:rPr lang="ru-RU" dirty="0"/>
              <a:t>Социально-экономический эффект для Вольска:</a:t>
            </a:r>
          </a:p>
          <a:p>
            <a:r>
              <a:rPr lang="ru-RU" dirty="0"/>
              <a:t> </a:t>
            </a:r>
            <a:r>
              <a:rPr lang="ru-RU" dirty="0" smtClean="0"/>
              <a:t>Мультипликативный </a:t>
            </a:r>
            <a:r>
              <a:rPr lang="ru-RU" dirty="0"/>
              <a:t>эффект: ~4,9 млн руб./год в смежные отрасли (гостиницы, кафе, такси).</a:t>
            </a:r>
          </a:p>
        </p:txBody>
      </p:sp>
    </p:spTree>
    <p:extLst>
      <p:ext uri="{BB962C8B-B14F-4D97-AF65-F5344CB8AC3E}">
        <p14:creationId xmlns:p14="http://schemas.microsoft.com/office/powerpoint/2010/main" val="241842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1274" y="228600"/>
            <a:ext cx="8743827" cy="694592"/>
          </a:xfrm>
        </p:spPr>
        <p:txBody>
          <a:bodyPr>
            <a:normAutofit/>
          </a:bodyPr>
          <a:lstStyle/>
          <a:p>
            <a:r>
              <a:rPr lang="ru-RU" dirty="0"/>
              <a:t>Перспективы и масштабирование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22032" y="923191"/>
            <a:ext cx="4651130" cy="527538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Тур соответствует госпрограммам: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Саратовская область получила 348 млн руб. субсидий на </a:t>
            </a:r>
            <a:r>
              <a:rPr lang="ru-RU" dirty="0" err="1"/>
              <a:t>глэмпинги</a:t>
            </a:r>
            <a:r>
              <a:rPr lang="ru-RU" dirty="0"/>
              <a:t> (часть пойдет в </a:t>
            </a:r>
            <a:r>
              <a:rPr lang="ru-RU" dirty="0" err="1"/>
              <a:t>Вольский</a:t>
            </a:r>
            <a:r>
              <a:rPr lang="ru-RU" dirty="0"/>
              <a:t> р-н).</a:t>
            </a:r>
          </a:p>
          <a:p>
            <a:r>
              <a:rPr lang="ru-RU" dirty="0"/>
              <a:t> </a:t>
            </a:r>
          </a:p>
          <a:p>
            <a:r>
              <a:rPr lang="ru-RU" dirty="0" err="1"/>
              <a:t>Инвестпроекты</a:t>
            </a:r>
            <a:r>
              <a:rPr lang="ru-RU" dirty="0"/>
              <a:t> на 6 млрд руб. в районе (кладка «Красный Октябрь»).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Что можно сделать дальше?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Зимняя версия тура (Театр + крытые музеи + горки).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Водная часть </a:t>
            </a:r>
            <a:r>
              <a:rPr lang="ru-RU" dirty="0" smtClean="0"/>
              <a:t>(круизы</a:t>
            </a:r>
            <a:r>
              <a:rPr lang="ru-RU" dirty="0"/>
              <a:t>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Мобильное приложение (Аудиогид по городу с AR-элементами)</a:t>
            </a:r>
          </a:p>
        </p:txBody>
      </p:sp>
    </p:spTree>
    <p:extLst>
      <p:ext uri="{BB962C8B-B14F-4D97-AF65-F5344CB8AC3E}">
        <p14:creationId xmlns:p14="http://schemas.microsoft.com/office/powerpoint/2010/main" val="140217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-612775"/>
            <a:ext cx="7055704" cy="1483213"/>
          </a:xfrm>
        </p:spPr>
        <p:txBody>
          <a:bodyPr/>
          <a:lstStyle/>
          <a:p>
            <a:r>
              <a:rPr lang="ru-RU" dirty="0"/>
              <a:t>Результаты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Разработан конкурентоспособный тур «Купеческая </a:t>
            </a:r>
            <a:r>
              <a:rPr lang="ru-RU" dirty="0" smtClean="0"/>
              <a:t>столица Саратовской губернии», </a:t>
            </a:r>
            <a:r>
              <a:rPr lang="ru-RU" dirty="0"/>
              <a:t>не имеющий аналогов в регионе по насыщенности.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Доказана экономическая целесообразность: окупаемость за 1 сезон (ROAS 7.7).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Выявлен высокий мультипликативный эффект для города Вольска.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Предложены меры по снижению фактора сезонности (зимние активности).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Рекомендация: Внедрить тур в линейку туроператоров Саратовской области и подать заявку на субсидию по нацпроекту «Туризм и индустрия гостеприимства».</a:t>
            </a:r>
          </a:p>
          <a:p>
            <a:r>
              <a:rPr lang="ru-RU" dirty="0"/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49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Спасибо за внимание!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22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207</Words>
  <Application>Microsoft Office PowerPoint</Application>
  <PresentationFormat>Широкоэкранный</PresentationFormat>
  <Paragraphs>131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Разработка туристского продукта на примере познавательного туризма малых городов России (на примере города Вольска Саратовской области)</vt:lpstr>
      <vt:lpstr>Актуальность исследования</vt:lpstr>
      <vt:lpstr>Презентация PowerPoint</vt:lpstr>
      <vt:lpstr>Туристский потенциал  г. Вольска (Сильные стороны)</vt:lpstr>
      <vt:lpstr>Проблематика и анализ среды (SWOT / PEST)</vt:lpstr>
      <vt:lpstr>Разработанный тур «Купеческая столица Саратовской губернии»</vt:lpstr>
      <vt:lpstr>Программа тура (День 1) </vt:lpstr>
      <vt:lpstr>Программа тура (День 2)</vt:lpstr>
      <vt:lpstr>Экономический расчет (Финансовая модель)</vt:lpstr>
      <vt:lpstr>План продаж и продвижения</vt:lpstr>
      <vt:lpstr>Прогноз эффективности (3 года)</vt:lpstr>
      <vt:lpstr>Перспективы и масштабирование</vt:lpstr>
      <vt:lpstr>Результаты работы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туристского продукта на примере познавательного туризма малых городов России (на примере города Вольска Саратовской области)</dc:title>
  <dc:creator>User</dc:creator>
  <cp:lastModifiedBy>User</cp:lastModifiedBy>
  <cp:revision>4</cp:revision>
  <dcterms:created xsi:type="dcterms:W3CDTF">2026-05-17T13:21:54Z</dcterms:created>
  <dcterms:modified xsi:type="dcterms:W3CDTF">2026-05-17T13:41:36Z</dcterms:modified>
</cp:coreProperties>
</file>